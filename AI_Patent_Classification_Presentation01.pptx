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0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502920" y="22402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Patent Document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Using Transformer Models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hierarchical, explainable Transformer framework for IPC / CPC patent classification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5897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[University Name]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199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Names, Roll Numbers]   •   [Month,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1288" y="160020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" y="256032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Proposed Framework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61288" y="35204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448056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160020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Creativity &amp; Novelty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67728" y="256032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7728" y="35204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&amp; Workflow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52628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448056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&amp; References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343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AI-based patent document classification system using Transformer models that accurately categorizes patents into IPC/CPC taxonomies while providing interpretable explanations for classification decisions — addressing hierarchical inconsistency, poor long-tail performance, and limited cross-jurisdictional generalization.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IPC codes  •  5 hierarchical levels  •  3M+ patents filed annually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536192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327648" y="1426464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bottleneck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27648" y="1700784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Examiners spend 20-30% of time on classification, driving up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2176272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limitations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450592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Random Forest / KNN need heavy feature engineering, miss semantic nuance.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035808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92608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inconsistency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27648" y="32004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multi-label models ignore parent-child taxonomy relationships.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85616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675888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7648" y="3950208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AI decisions are unacceptable in legal / patent-office contexts.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535424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4425696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performance gap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27648" y="4700016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 with few examples are routinely misclassified.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5285232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327648" y="5175504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generalization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27648" y="5449824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USPTO degrade sharply on EPO or WIPO filings.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build a Hierarchical Transformer-based Patent Classification Framework that…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911096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accurately across all 5 levels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2185416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→ Class → Subclass → Group → Subgroup of the IPC/CPC taxonomy.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07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4712" y="2752344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hierarchical consistency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4712" y="3026664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loss functions + constrained inference stop parent-child violations.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48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4712" y="3593592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prediction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" y="3867912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 and attention visualization make decisions auditable for legal use.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897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712" y="4434840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across jurisdictions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4712" y="4709160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and evaluation on USPTO, CLEF-IP and WIPO filings.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330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4712" y="5276088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rare / emerging technologies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5550408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and few-shot learning lift long-tail class performance.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187452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CPC HIERARCHY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25146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(A–H)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67344" y="3172968"/>
            <a:ext cx="263347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67344" y="31729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(A01)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59368" y="3831336"/>
            <a:ext cx="2249424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659368" y="3831336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 (A01B)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851392" y="4489704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851392" y="448970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(A01B1/00)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43416" y="5148072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043416" y="51480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 (A01B1/02)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Framework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document: abstract + claims + description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10800000">
            <a:off x="4672584" y="225856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37744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segmentation, domain tokenization, technical-term handling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0800000">
            <a:off x="4672584" y="308152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20040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Encoder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 / Legal-BERT — multi-head self-attention (12–16 heads) + FFN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4672584" y="390448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02336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Classification Head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402336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softmax heads with hierarchical loss + constrained inference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672584" y="472744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84632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Module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66160" y="484632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 visualization, faithfulness evaluation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4672584" y="555040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66928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692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66160" y="56692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IPC/CPC codes, confidence scores, explanations, attention heatmaps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1554480"/>
            <a:ext cx="2514600" cy="470916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1737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FROM DAY 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26880" y="218541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9582912" y="203911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encoders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0" y="319125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9582912" y="30449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consistency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6880" y="41970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9582912" y="405079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Explainability-first design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26880" y="520293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582912" y="505663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training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Framework Answers Each Limitation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4297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It Addresses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classification 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softmax layer per IPC level with consistency enforcement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inconsistency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Domain-adapted transformers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 (scientific text) + Legal-BERT (legal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semantic understanding of patent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+ attention visualization with faithfulness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explainability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Multi-dataset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 + CLEF-IP 2011 + WIPO subset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cross-jurisdictional generalization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 + few-shot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performance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11335" y="438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(Lee &amp; Hsiang,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fine-tuned on patent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66.80% on CPC (9 classes)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claims only; limited to 9 classes; no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USPTO-3M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SciBERT-based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(Risch et al.,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 (domain-adapted)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Outperforms standard BERT on patent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tuned for legal language; limited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(Pujari et al.,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ML + Transformer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F1: 0.68–0.72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context understanding; struggles with complex taxonomies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2011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(Yadrintsev et al., 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Linguistically-supported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fastText; strong with limited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feature engineering; limited semantic nuance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(699K patents)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11335" y="438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PatentSBERTa +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(Bekamiri et al.,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Sentence-BERT +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66.0% on CPC (663 classes)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Similarity-focused; not optimized for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patent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LSG-Norm 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(Condevaux &amp; Harispe, 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LSG-Norm attention (128/4)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Micro-F1: 70.0%; Macro-F1: 64.4%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custom attention; limited cross-dataset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ccdv/patent-classification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PCT-BERT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(Sahu et al., 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+ LLM-generated summaries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0.86 (state-of-the-art)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extra LLM inference; prompt optimization understudied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H-ProtoRAG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(Xie et al.,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retrieval-augmented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0.87 (then-current SOTA)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architecture; limited cross-dataset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 + WIPO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11335" y="438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(Emer et al.,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SciBERT / PatentSBERTa vs. zero-/few-shot LLMs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Encoders excel on frequent classes; LLMs better on rare 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~3 orders of magnitude slower / costlier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(Lin,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T5 / DeepSeek + LoRA + quantization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slightly outperforms DeepSeek; both viable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IPC G06 class; Chinese patents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Patent Data (2021–2025)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XLNet-based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(Lis &amp; Rutkowski,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XLNet self-supervised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robust classification 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intensive; limited public implementation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 / WIPO patent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(Ayaou &amp; Cavallucci, 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training on 15 tasks (2.06M examples)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training improves external generalization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trade-offs across benchmark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PatenTEB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WORK FALLS SHORT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59975" y="438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Consistency Modeling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treat IPC/CPC as flat multi-label prediction.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violate parent-child taxonomy constraints, undermining prior-art search.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loss functions + constrained inference.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233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233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6106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8906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focuses on accuracy; explanation quality is rarely evaluated.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AI decisions are unacceptable in legal settings; low examiner trust.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+ attention, with faithfulness / trust studies.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12557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7149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7149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0925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Generalization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are trained and evaluated on USPTO alone.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systems fail on EPO / WIPO patents with different structures.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and evaluation: USPTO-70k + CLEF-IP + WIPO.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gaps in total — continued on the next slide.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WORK FALLS SHORT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59975" y="438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Technology 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across the taxonomy.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innovations in nascent fields are misclassified or missed.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(paraphrasing, sentence shuffling) + few-shot learning.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233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233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6106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vs.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8906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help on rare classes but cost ~3 orders of magnitude more to run.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 is limited by compute and environmental cost.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encoders (SciBERT/Legal-BERT) for frequent classes, augmented data for the tail.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12557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7149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7149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0925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almost exclusively text-only; drawings are ignored.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Visual-centric (mechanical, design) patents risk misclassification.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future work: Vision Transformers for patent drawings.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maps to a concrete design decision in the proposed framework — see Slide 6.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4206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consistency enforcement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loss + constrained inference for taxonomic consistency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Explainability-first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SHAP/LIME built in from the start, not bolted on afterward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Cross-jurisdictional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evaluation across USPTO, EPO and WIPO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encoder + LLM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encoders plus augmentation for long-tail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&amp; Novelty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38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Section-weighted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231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&gt; Descriptions &gt; Abstracts, with learned attention weights per section.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081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Patent-specific augmentation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374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shuffling (claims are often independent) + domain-adapted paraphrasing.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224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explanation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4517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+ natural-language rationales for examiners to explore and validate.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88366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framework to combine hierarchical classification, explainability, cross-dataset evaluation and long-tail optimization in one system.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0" y="275234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51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loss: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loss that penalizes parent-child violations, weighted by taxonomic distance.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09360" y="362102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5204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Multi-dimensional: classification metrics + hierarchical metrics + explainability faithfulness.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09360" y="448970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389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approach: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competitive performance under limited compute budgets.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Technical &amp; Resources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30936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BERT, RoBERTa, SciBERT, Legal-BERT on Hugging 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USPTO-70k, CLEF-IP 2011, WIPO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GPU needed (Colab Pro or similar) for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standard PyTorch + Hugging Face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SHAP and LIME libraries are readily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49440" y="173736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8" name="Text 5"/>
          <p:cNvSpPr/>
          <p:nvPr/>
        </p:nvSpPr>
        <p:spPr>
          <a:xfrm>
            <a:off x="7150608" y="18288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50608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T4-class GPU — approx. $0.50–$1.00/hr (Colab Pro)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78892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150608" y="28803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50608" y="3154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3.8+, PyTorch, Hugging Face Transformers — free / open-source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84048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4" name="Text 11"/>
          <p:cNvSpPr/>
          <p:nvPr/>
        </p:nvSpPr>
        <p:spPr>
          <a:xfrm>
            <a:off x="7150608" y="3931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50" dirty="0"/>
          </a:p>
        </p:txBody>
      </p:sp>
      <p:sp>
        <p:nvSpPr>
          <p:cNvPr id="5" name="Text 12"/>
          <p:cNvSpPr/>
          <p:nvPr/>
        </p:nvSpPr>
        <p:spPr>
          <a:xfrm>
            <a:off x="7150608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GB for datasets — Google Drive / Cloud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89204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7" name="Text 14"/>
          <p:cNvSpPr/>
          <p:nvPr/>
        </p:nvSpPr>
        <p:spPr>
          <a:xfrm>
            <a:off x="7150608" y="49834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50608" y="5257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 project duration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Risk Assessment &amp; Mitigation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4206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compute resources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RoBERTa/BERT instead of LLMs; apply LoRA for memory 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on small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augmentation, early stopping, cross-validation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Long-text token limits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Section-level processing; Longformer if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weighting, data augmentation, few-shot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evaluation is hard to define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clear faithfulness metrics established in prior literature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project is technically feasible — pre-trained models, public datasets and established tooling are all in place; key challenges are well-defined and addressable within the timeline.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0463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110463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papers, identify gaps, finalize architecture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 rot="5400000">
            <a:off x="2211781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2394661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02204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002204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6101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86101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0965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USPTO/CLEF-IP/WIPO, segment, tokenize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103522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4286402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3945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4893945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77842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77842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2706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SciBERT/Legal-BERT/RoBERTa, hierarchical loss, constrained inference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95264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8144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785686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8568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69584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9584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4448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 viz, faithfulness &amp; trust study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 rot="5400000">
            <a:off x="7887005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2" name="Shape 30"/>
          <p:cNvSpPr/>
          <p:nvPr/>
        </p:nvSpPr>
        <p:spPr>
          <a:xfrm>
            <a:off x="8069885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8677427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8677427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61325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61325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16189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hierarchical metrics, cross-dataset validation, ablations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 rot="5400000">
            <a:off x="9778746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9" name="Shape 37"/>
          <p:cNvSpPr/>
          <p:nvPr/>
        </p:nvSpPr>
        <p:spPr>
          <a:xfrm>
            <a:off x="9961626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69169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10569169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053066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Documentation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53066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107930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web demo, final report &amp; presentation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Timeline (Gantt)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4206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implementation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&amp;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989320"/>
            <a:ext cx="201168" cy="201168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943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 in that week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&amp;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— and the Ideas — Come From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40080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uspto.gov/learning-and-resources/electronic-data-products/patent-classification-dataset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clef-initiative.eu/track/clef-ip-2023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WIPO patent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wipo.int/standards/en/ipc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ccdv/patent-classification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huggingface.co/datasets/ccdv/patent-classification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Patent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tipo.gov.tw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0749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references: Lee &amp; Hsiang (2020) • Risch et al. (2020) • Pujari et al. (2021) • Yadrintsev et al. (2022) • Bekamiri et al. (2024) • Condevaux &amp; Harispe (2023) • Sahu et al. (2023) • Xie et al. (2024) • Emer et al. (2026) • Lin (2026) • Lis &amp; Rutkowski (2026) • Ayaou &amp; Cavallucci (2025)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680960" y="1600200"/>
            <a:ext cx="3977640" cy="4754880"/>
          </a:xfrm>
          <a:prstGeom prst="roundRect">
            <a:avLst>
              <a:gd name="adj" fmla="val 2759"/>
            </a:avLst>
          </a:prstGeom>
          <a:solidFill>
            <a:srgbClr val="141C4D"/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0" y="333756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8101584" y="32186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choice: SciBERT vs. Legal-BERT vs. RoBERTa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63840" y="393192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8101584" y="38130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Hierarchical-loss design trade-offs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452628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1"/>
          <p:cNvSpPr/>
          <p:nvPr/>
        </p:nvSpPr>
        <p:spPr>
          <a:xfrm>
            <a:off x="8101584" y="440740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standards for legal use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63840" y="512064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3"/>
          <p:cNvSpPr/>
          <p:nvPr/>
        </p:nvSpPr>
        <p:spPr>
          <a:xfrm>
            <a:off x="8101584" y="50017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scaling considerations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2167</Words>
  <Application>Microsoft Office PowerPoint</Application>
  <PresentationFormat>Widescreen</PresentationFormat>
  <Paragraphs>448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VIKAS SUTHAR</cp:lastModifiedBy>
  <cp:revision>2</cp:revision>
  <dcterms:created xsi:type="dcterms:W3CDTF">2026-08-14T07:06:27Z</dcterms:created>
  <dcterms:modified xsi:type="dcterms:W3CDTF">2026-08-14T07:57:45Z</dcterms:modified>
</cp:coreProperties>
</file>